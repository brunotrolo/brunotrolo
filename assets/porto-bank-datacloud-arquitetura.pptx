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Enquadrar: esta submissao cobre APENAS a Fase 1 - levar o dado ate o Data Cloud. O disparo (Marketing Cloud Next) e Fase 2 e sera submetido separadamente. Numeros: 13M disparos/ano, ~433k/dia util, volume estimado 0,5-1 TB/ano.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a comunicacao transacional cobre varios produtos, o que impede uma solucao pontual por produto. O ponto central da mudanca: a GCP nao agrega tratamento, so transporta - e ao transportar, replica dado financeiro sensivel para fora do dominio do banco.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central. Ler da esquerda para a direita. Tres pontos a defender: (1) toda regra de negocio e todo dado sensivel permanecem no Databricks/Azure - o Data Cloud nao persiste; (2) a fronteira de acesso e o SQL Warehouse, com OAuth M2M e Private Link, e o Unity Catalog aplica masking antes da query sair; (3) o escopo desta cerimonia termina em Activation Targets. A faixa cinza inferior existe para deixar explicito o que NAO estamos submetendo, e o alerta vermelho registra que a economia da GCP so se realiza na Fase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 onde a cerimonia costuma pressionar. Ser explicito: Zero Copy nao e economia total - ela troca custo de armazenamento por custo de computacao dos dois lados. A economia liquida existe porque nosso perfil e de base grande com leitura de baixa frequencia. Se o perfil virar leitura intensa, a conta inverte e a decisao precisa ser revisitada.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As tres decisoes do quadro superior direito sao o que se pede a cerimonia para ratificar. O roadmap esta sem datas de proposito - a duracao depende do prazo de resposta do fornecedor sobre evidencias e do prazo de notificacao ao regulador, que sao dependencias externas ao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0176D3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4023360"/>
            <a:ext cx="3657600" cy="3657600"/>
          </a:xfrm>
          <a:prstGeom prst="ellipse">
            <a:avLst/>
          </a:prstGeom>
          <a:solidFill>
            <a:srgbClr val="D9902B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868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9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 BANK  ·  ARQUITETURA DE SOLUÇÕES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28016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Comunicações Transacionais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Salesforce Data Cloud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referência — Fase 1: ingestão Databricks → Data Cloud 360 via Zero Copy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3703320"/>
            <a:ext cx="2971800" cy="1508760"/>
          </a:xfrm>
          <a:prstGeom prst="roundRect">
            <a:avLst>
              <a:gd name="adj" fmla="val 3636"/>
            </a:avLst>
          </a:prstGeom>
          <a:solidFill>
            <a:srgbClr val="12304F"/>
          </a:solidFill>
          <a:ln w="12700">
            <a:solidFill>
              <a:srgbClr val="2348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38404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99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78408" y="446227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disparos transacionais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ano (todos os canais)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023360" y="3703320"/>
            <a:ext cx="2971800" cy="1508760"/>
          </a:xfrm>
          <a:prstGeom prst="roundRect">
            <a:avLst>
              <a:gd name="adj" fmla="val 3636"/>
            </a:avLst>
          </a:prstGeom>
          <a:solidFill>
            <a:srgbClr val="12304F"/>
          </a:solidFill>
          <a:ln w="12700">
            <a:solidFill>
              <a:srgbClr val="2348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24528" y="38404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99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224528" y="446227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famílias de produto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 atendidas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69480" y="3703320"/>
            <a:ext cx="2971800" cy="1508760"/>
          </a:xfrm>
          <a:prstGeom prst="roundRect">
            <a:avLst>
              <a:gd name="adj" fmla="val 3636"/>
            </a:avLst>
          </a:prstGeom>
          <a:solidFill>
            <a:srgbClr val="12304F"/>
          </a:solidFill>
          <a:ln w="12700">
            <a:solidFill>
              <a:srgbClr val="2348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70648" y="38404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99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0,5–1 TB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470648" y="446227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anual estimado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escopo da Fase 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623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Cerimônia de Validação de Arquitetura de Referência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5897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(Marketing Cloud Next) fora do escopo desta submissão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e cenário atual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disparamos hoje, por onde passa e por que a arquitetura precisa mudar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3794760" cy="4709160"/>
          </a:xfrm>
          <a:prstGeom prst="roundRect">
            <a:avLst>
              <a:gd name="adj" fmla="val 964"/>
            </a:avLst>
          </a:prstGeom>
          <a:solidFill>
            <a:srgbClr val="F4F7FB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DISPARAMOS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1847088"/>
            <a:ext cx="237744" cy="237744"/>
          </a:xfrm>
          <a:prstGeom prst="ellipse">
            <a:avLst/>
          </a:prstGeom>
          <a:solidFill>
            <a:srgbClr val="017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8470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Contemplação de cota de consórcio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514600"/>
            <a:ext cx="237744" cy="237744"/>
          </a:xfrm>
          <a:prstGeom prst="ellipse">
            <a:avLst/>
          </a:prstGeom>
          <a:solidFill>
            <a:srgbClr val="017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514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245059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via de boleto do cartão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3182112"/>
            <a:ext cx="237744" cy="237744"/>
          </a:xfrm>
          <a:prstGeom prst="ellipse">
            <a:avLst/>
          </a:prstGeom>
          <a:solidFill>
            <a:srgbClr val="017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182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311810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Extrato financeiro do consórcio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" y="3849624"/>
            <a:ext cx="237744" cy="237744"/>
          </a:xfrm>
          <a:prstGeom prst="ellipse">
            <a:avLst/>
          </a:prstGeom>
          <a:solidFill>
            <a:srgbClr val="017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849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378561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de vencimento e de atraso — empréstimos e financiamentos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" y="4517136"/>
            <a:ext cx="237744" cy="237744"/>
          </a:xfrm>
          <a:prstGeom prst="ellipse">
            <a:avLst/>
          </a:prstGeom>
          <a:solidFill>
            <a:srgbClr val="017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517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" y="44531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Vencimento de contrato de fiança locatícia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" y="5184648"/>
            <a:ext cx="237744" cy="237744"/>
          </a:xfrm>
          <a:prstGeom prst="ellipse">
            <a:avLst/>
          </a:prstGeom>
          <a:solidFill>
            <a:srgbClr val="017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51846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05840" y="51206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Demais eventos de conta digital, previdência, capitalização e investimentos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26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AS-IS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26280" y="1755648"/>
            <a:ext cx="1298448" cy="841248"/>
          </a:xfrm>
          <a:prstGeom prst="roundRect">
            <a:avLst>
              <a:gd name="adj" fmla="val 6522"/>
            </a:avLst>
          </a:prstGeom>
          <a:solidFill>
            <a:srgbClr val="ECEFF3"/>
          </a:solidFill>
          <a:ln w="12700">
            <a:solidFill>
              <a:srgbClr val="CBD3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1755648"/>
            <a:ext cx="1207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Produto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43016" y="2176272"/>
            <a:ext cx="155448" cy="0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016752" y="1755648"/>
            <a:ext cx="1298448" cy="841248"/>
          </a:xfrm>
          <a:prstGeom prst="roundRect">
            <a:avLst>
              <a:gd name="adj" fmla="val 6522"/>
            </a:avLst>
          </a:prstGeom>
          <a:solidFill>
            <a:srgbClr val="D34E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62472" y="1755648"/>
            <a:ext cx="1207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(Azure)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33488" y="2176272"/>
            <a:ext cx="155448" cy="0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507224" y="1755648"/>
            <a:ext cx="1298448" cy="841248"/>
          </a:xfrm>
          <a:prstGeom prst="roundRect">
            <a:avLst>
              <a:gd name="adj" fmla="val 6522"/>
            </a:avLst>
          </a:prstGeom>
          <a:solidFill>
            <a:srgbClr val="D990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52944" y="1755648"/>
            <a:ext cx="1207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823960" y="2176272"/>
            <a:ext cx="155448" cy="0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997696" y="1755648"/>
            <a:ext cx="1298448" cy="841248"/>
          </a:xfrm>
          <a:prstGeom prst="roundRect">
            <a:avLst>
              <a:gd name="adj" fmla="val 6522"/>
            </a:avLst>
          </a:prstGeom>
          <a:solidFill>
            <a:srgbClr val="6B77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43416" y="1755648"/>
            <a:ext cx="1207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Zenvia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314432" y="2176272"/>
            <a:ext cx="155448" cy="0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488168" y="1755648"/>
            <a:ext cx="1298448" cy="841248"/>
          </a:xfrm>
          <a:prstGeom prst="roundRect">
            <a:avLst>
              <a:gd name="adj" fmla="val 6522"/>
            </a:avLst>
          </a:prstGeom>
          <a:solidFill>
            <a:srgbClr val="ECEFF3"/>
          </a:solidFill>
          <a:ln w="12700">
            <a:solidFill>
              <a:srgbClr val="CBD3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33888" y="1755648"/>
            <a:ext cx="1207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· SMS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26280" y="2971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MUDAR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26280" y="3310128"/>
            <a:ext cx="7251192" cy="786384"/>
          </a:xfrm>
          <a:prstGeom prst="roundRect">
            <a:avLst>
              <a:gd name="adj" fmla="val 4651"/>
            </a:avLst>
          </a:prstGeom>
          <a:solidFill>
            <a:srgbClr val="FBEDEB"/>
          </a:solidFill>
          <a:ln w="12700">
            <a:solidFill>
              <a:srgbClr val="F0C9C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383280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Salto tecnológico sem valor agregado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709160" y="3621024"/>
            <a:ext cx="6903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7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GCP é hoje um entreposto: recebe o dado já pronto do Databricks só para entregá-lo ao broker. Cada hop adiciona custo, latência e mais um ponto de falha.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26280" y="4197096"/>
            <a:ext cx="7251192" cy="786384"/>
          </a:xfrm>
          <a:prstGeom prst="roundRect">
            <a:avLst>
              <a:gd name="adj" fmla="val 4651"/>
            </a:avLst>
          </a:prstGeom>
          <a:solidFill>
            <a:srgbClr val="FBEDEB"/>
          </a:solidFill>
          <a:ln w="12700">
            <a:solidFill>
              <a:srgbClr val="F0C9C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4270248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financeiro sensível replicado fora do domínio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709160" y="4507992"/>
            <a:ext cx="6903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7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CPF/CNPJ, contrato e meio de pagamento são copiados para uma terceira nuvem. Exposição desnecessária diante da auditoria BACEN recente.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26280" y="5084064"/>
            <a:ext cx="7251192" cy="786384"/>
          </a:xfrm>
          <a:prstGeom prst="roundRect">
            <a:avLst>
              <a:gd name="adj" fmla="val 4651"/>
            </a:avLst>
          </a:prstGeom>
          <a:solidFill>
            <a:srgbClr val="FBEDEB"/>
          </a:solidFill>
          <a:ln w="12700">
            <a:solidFill>
              <a:srgbClr val="F0C9C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9160" y="5157216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base para a evolução de canal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709160" y="5394960"/>
            <a:ext cx="6903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7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atual não sustenta jornada, orquestração e IA. A Fase 2 (Marketing Cloud Next) exige um plano de dados unificado que hoje não existe.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26280" y="6053328"/>
            <a:ext cx="7251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Premissas de operação:  volume 13 M/ano (~433 k/dia útil)  ·  modo batch, de D-1 até 4x/dia  ·  confiabilidade de entrega alta  ·  toda a regra de negócio permanece no Databricks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TO-BE — visão de containers (C4 · nível 2)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778240" y="420624"/>
            <a:ext cx="310896" cy="0"/>
          </a:xfrm>
          <a:prstGeom prst="line">
            <a:avLst/>
          </a:prstGeom>
          <a:noFill/>
          <a:ln w="44450">
            <a:solidFill>
              <a:srgbClr val="0176D3"/>
            </a:solidFill>
            <a:prstDash val="dash"/>
            <a:tailEnd type="triangle"/>
          </a:ln>
        </p:spPr>
      </p:sp>
      <p:sp>
        <p:nvSpPr>
          <p:cNvPr id="4" name="Text 2"/>
          <p:cNvSpPr/>
          <p:nvPr/>
        </p:nvSpPr>
        <p:spPr>
          <a:xfrm>
            <a:off x="9162288" y="292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Copy — query federada, o dado não se move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778240" y="676656"/>
            <a:ext cx="310896" cy="0"/>
          </a:xfrm>
          <a:prstGeom prst="line">
            <a:avLst/>
          </a:prstGeom>
          <a:noFill/>
          <a:ln w="25400">
            <a:solidFill>
              <a:srgbClr val="6B7785"/>
            </a:solidFill>
            <a:prstDash val="dash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9162288" y="548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fora do escopo desta cerimônia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920240" cy="3977640"/>
          </a:xfrm>
          <a:prstGeom prst="roundRect">
            <a:avLst>
              <a:gd name="adj" fmla="val 1429"/>
            </a:avLst>
          </a:prstGeom>
          <a:solidFill>
            <a:srgbClr val="FAFBFC"/>
          </a:solidFill>
          <a:ln w="12700">
            <a:solidFill>
              <a:srgbClr val="CBD3D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Produto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[core bancário]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5C6B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66420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Cartão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Digital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322576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5C6B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2322576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Consórcio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Capitalização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980944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5C6B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298094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Empréstimos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Financiamentos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639312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5C6B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363931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Fiança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Locatícia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5C6B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429768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Previdência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14600" y="1115568"/>
            <a:ext cx="4617720" cy="3977640"/>
          </a:xfrm>
          <a:prstGeom prst="roundRect">
            <a:avLst>
              <a:gd name="adj" fmla="val 690"/>
            </a:avLst>
          </a:prstGeom>
          <a:solidFill>
            <a:srgbClr val="F2F7FC"/>
          </a:solidFill>
          <a:ln w="12700">
            <a:solidFill>
              <a:srgbClr val="1B6EC2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2606040" y="118872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— domínio Porto Bank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06040" y="1371600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[deployment boundary · plataforma de dados proprietária]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633472" y="1627632"/>
            <a:ext cx="1856232" cy="475488"/>
          </a:xfrm>
          <a:prstGeom prst="roundRect">
            <a:avLst>
              <a:gd name="adj" fmla="val 15385"/>
            </a:avLst>
          </a:prstGeom>
          <a:solidFill>
            <a:srgbClr val="1B6EC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0048" y="162763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Factory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[orquestração de ingestão]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90288" y="1627632"/>
            <a:ext cx="1856232" cy="475488"/>
          </a:xfrm>
          <a:prstGeom prst="roundRect">
            <a:avLst>
              <a:gd name="adj" fmla="val 15385"/>
            </a:avLst>
          </a:prstGeom>
          <a:solidFill>
            <a:srgbClr val="1B6EC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26864" y="162763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[eventos e exceções]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33472" y="2212848"/>
            <a:ext cx="3813048" cy="2450592"/>
          </a:xfrm>
          <a:prstGeom prst="roundRect">
            <a:avLst>
              <a:gd name="adj" fmla="val 1119"/>
            </a:avLst>
          </a:prstGeom>
          <a:solidFill>
            <a:srgbClr val="FDF2F0"/>
          </a:solidFill>
          <a:ln w="12700">
            <a:solidFill>
              <a:srgbClr val="D34E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24912" y="2267712"/>
            <a:ext cx="3630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0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Lakehouse  [Delta Lake]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0" y="2523744"/>
            <a:ext cx="1143000" cy="402336"/>
          </a:xfrm>
          <a:prstGeom prst="roundRect">
            <a:avLst>
              <a:gd name="adj" fmla="val 18182"/>
            </a:avLst>
          </a:prstGeom>
          <a:solidFill>
            <a:srgbClr val="B574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79776" y="2523744"/>
            <a:ext cx="1069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895344" y="2724912"/>
            <a:ext cx="64008" cy="0"/>
          </a:xfrm>
          <a:prstGeom prst="line">
            <a:avLst/>
          </a:prstGeom>
          <a:noFill/>
          <a:ln w="15875">
            <a:solidFill>
              <a:srgbClr val="8B96A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968496" y="2523744"/>
            <a:ext cx="1143000" cy="402336"/>
          </a:xfrm>
          <a:prstGeom prst="roundRect">
            <a:avLst>
              <a:gd name="adj" fmla="val 18182"/>
            </a:avLst>
          </a:prstGeom>
          <a:solidFill>
            <a:srgbClr val="8B96A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05072" y="2523744"/>
            <a:ext cx="1069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120640" y="2724912"/>
            <a:ext cx="64008" cy="0"/>
          </a:xfrm>
          <a:prstGeom prst="line">
            <a:avLst/>
          </a:prstGeom>
          <a:noFill/>
          <a:ln w="15875">
            <a:solidFill>
              <a:srgbClr val="8B96A2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193792" y="2523744"/>
            <a:ext cx="1143000" cy="402336"/>
          </a:xfrm>
          <a:prstGeom prst="roundRect">
            <a:avLst>
              <a:gd name="adj" fmla="val 18182"/>
            </a:avLst>
          </a:prstGeom>
          <a:solidFill>
            <a:srgbClr val="B595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30368" y="2523744"/>
            <a:ext cx="1069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0" y="3017520"/>
            <a:ext cx="3593592" cy="420624"/>
          </a:xfrm>
          <a:prstGeom prst="roundRect">
            <a:avLst>
              <a:gd name="adj" fmla="val 17391"/>
            </a:avLst>
          </a:prstGeom>
          <a:solidFill>
            <a:srgbClr val="D34E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79776" y="301752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de Elegibilidade e Insights   [jobs · regra de negócio da comunicação]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0" y="3529584"/>
            <a:ext cx="3593592" cy="420624"/>
          </a:xfrm>
          <a:prstGeom prst="roundRect">
            <a:avLst>
              <a:gd name="adj" fmla="val 17391"/>
            </a:avLst>
          </a:prstGeom>
          <a:solidFill>
            <a:srgbClr val="D34E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79776" y="3529584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Tables — Comunicações Transacionais   [contrato de dados estável]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0" y="4041648"/>
            <a:ext cx="3593592" cy="402336"/>
          </a:xfrm>
          <a:prstGeom prst="roundRect">
            <a:avLst>
              <a:gd name="adj" fmla="val 18182"/>
            </a:avLst>
          </a:prstGeom>
          <a:solidFill>
            <a:srgbClr val="0F7A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79776" y="404164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  ·   governança · lineage · column masking · row filter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35424" y="2944368"/>
            <a:ext cx="0" cy="54864"/>
          </a:xfrm>
          <a:prstGeom prst="line">
            <a:avLst/>
          </a:prstGeom>
          <a:noFill/>
          <a:ln w="15875">
            <a:solidFill>
              <a:srgbClr val="8B96A2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535424" y="3456432"/>
            <a:ext cx="0" cy="54864"/>
          </a:xfrm>
          <a:prstGeom prst="line">
            <a:avLst/>
          </a:prstGeom>
          <a:noFill/>
          <a:ln w="15875">
            <a:solidFill>
              <a:srgbClr val="8B96A2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537960" y="1627632"/>
            <a:ext cx="475488" cy="3035808"/>
          </a:xfrm>
          <a:prstGeom prst="roundRect">
            <a:avLst>
              <a:gd name="adj" fmla="val 7692"/>
            </a:avLst>
          </a:prstGeom>
          <a:solidFill>
            <a:srgbClr val="A03A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 rot="16200000">
            <a:off x="5504688" y="2980944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SQL Warehouse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M2M  ·  Private Link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633472" y="4718304"/>
            <a:ext cx="4379976" cy="347472"/>
          </a:xfrm>
          <a:prstGeom prst="roundRect">
            <a:avLst>
              <a:gd name="adj" fmla="val 7895"/>
            </a:avLst>
          </a:prstGeom>
          <a:solidFill>
            <a:srgbClr val="FDF3E3"/>
          </a:solidFill>
          <a:ln w="12700">
            <a:solidFill>
              <a:srgbClr val="E8CF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24912" y="4718304"/>
            <a:ext cx="4197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5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compute de cada query federada é cobrado pelo Databricks — dimensionar warehouse e cache.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031736" y="2185416"/>
            <a:ext cx="521208" cy="0"/>
          </a:xfrm>
          <a:prstGeom prst="line">
            <a:avLst/>
          </a:prstGeom>
          <a:noFill/>
          <a:ln w="57150">
            <a:solidFill>
              <a:srgbClr val="0176D3"/>
            </a:solidFill>
            <a:prstDash val="dash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7315200" y="1115568"/>
            <a:ext cx="4462272" cy="3977640"/>
          </a:xfrm>
          <a:prstGeom prst="roundRect">
            <a:avLst>
              <a:gd name="adj" fmla="val 690"/>
            </a:avLst>
          </a:prstGeom>
          <a:solidFill>
            <a:srgbClr val="F0F8FE"/>
          </a:solidFill>
          <a:ln w="12700">
            <a:solidFill>
              <a:srgbClr val="0176D3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7406640" y="1188720"/>
            <a:ext cx="4279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4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— org Porto Bank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406640" y="1371600"/>
            <a:ext cx="4279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[deployment boundary · SaaS multi-tenant, subdomínio dedicado do banco]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434072" y="1627632"/>
            <a:ext cx="4224528" cy="3035808"/>
          </a:xfrm>
          <a:prstGeom prst="roundRect">
            <a:avLst>
              <a:gd name="adj" fmla="val 904"/>
            </a:avLst>
          </a:prstGeom>
          <a:solidFill>
            <a:srgbClr val="E3F1FB"/>
          </a:solidFill>
          <a:ln w="12700">
            <a:solidFill>
              <a:srgbClr val="0176D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25512" y="1682496"/>
            <a:ext cx="4041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34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Cloud 360  [plataforma de dados]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571232" y="1929384"/>
            <a:ext cx="3950208" cy="512064"/>
          </a:xfrm>
          <a:prstGeom prst="roundRect">
            <a:avLst>
              <a:gd name="adj" fmla="val 14286"/>
            </a:avLst>
          </a:prstGeom>
          <a:solidFill>
            <a:srgbClr val="0176D3"/>
          </a:solidFill>
          <a:ln w="31750">
            <a:solidFill>
              <a:srgbClr val="03497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07808" y="1929384"/>
            <a:ext cx="3877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 Lake Objects  —  ZERO COPY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 dos objetos · sem armazenamento no Data Cloud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571232" y="2514600"/>
            <a:ext cx="395020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0176D3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7607808" y="2514600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Objects (cópia)  —  exceção, só quando Zero Copy não atende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571232" y="2935224"/>
            <a:ext cx="3950208" cy="347472"/>
          </a:xfrm>
          <a:prstGeom prst="roundRect">
            <a:avLst>
              <a:gd name="adj" fmla="val 21053"/>
            </a:avLst>
          </a:prstGeom>
          <a:solidFill>
            <a:srgbClr val="0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07808" y="2935224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Objects  —  harmonização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571232" y="3355848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07808" y="335584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Resolution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consome créditos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601200" y="3355848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637776" y="335584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Insights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consome créditos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571232" y="3776472"/>
            <a:ext cx="3950208" cy="347472"/>
          </a:xfrm>
          <a:prstGeom prst="roundRect">
            <a:avLst>
              <a:gd name="adj" fmla="val 21053"/>
            </a:avLst>
          </a:prstGeom>
          <a:solidFill>
            <a:srgbClr val="0176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07808" y="3776472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&amp; Data Actions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571232" y="4197096"/>
            <a:ext cx="3950208" cy="365760"/>
          </a:xfrm>
          <a:prstGeom prst="roundRect">
            <a:avLst>
              <a:gd name="adj" fmla="val 20000"/>
            </a:avLst>
          </a:prstGeom>
          <a:solidFill>
            <a:srgbClr val="0176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607808" y="4197096"/>
            <a:ext cx="3877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Targets  —  ponto de saída da Fase 1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434072" y="4718304"/>
            <a:ext cx="4224528" cy="347472"/>
          </a:xfrm>
          <a:prstGeom prst="roundRect">
            <a:avLst>
              <a:gd name="adj" fmla="val 7895"/>
            </a:avLst>
          </a:prstGeom>
          <a:solidFill>
            <a:srgbClr val="E9F5EF"/>
          </a:solidFill>
          <a:ln w="12700">
            <a:solidFill>
              <a:srgbClr val="B9DDC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25512" y="4718304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5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nativa em repouso e trânsito · MFA · audit log 5 anos (Res. CMN 4.893)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11480" y="5230368"/>
            <a:ext cx="11365992" cy="1097280"/>
          </a:xfrm>
          <a:prstGeom prst="roundRect">
            <a:avLst>
              <a:gd name="adj" fmla="val 2500"/>
            </a:avLst>
          </a:prstGeom>
          <a:solidFill>
            <a:srgbClr val="F7F8FA"/>
          </a:solidFill>
          <a:ln w="12700">
            <a:solidFill>
              <a:srgbClr val="C9D1DA"/>
            </a:solidFill>
            <a:prstDash val="dash"/>
          </a:ln>
        </p:spPr>
      </p:sp>
      <p:sp>
        <p:nvSpPr>
          <p:cNvPr id="72" name="Text 70"/>
          <p:cNvSpPr/>
          <p:nvPr/>
        </p:nvSpPr>
        <p:spPr>
          <a:xfrm>
            <a:off x="548640" y="532180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9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escopo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1874520" y="5321808"/>
            <a:ext cx="2971800" cy="914400"/>
          </a:xfrm>
          <a:prstGeom prst="roundRect">
            <a:avLst>
              <a:gd name="adj" fmla="val 3000"/>
            </a:avLst>
          </a:prstGeom>
          <a:solidFill>
            <a:srgbClr val="FBEDE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993392" y="53766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de descomissionamento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1993392" y="55778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7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GCP só pode ser desligada quando o Marketing Cloud Next entrar em produção. A Fase 1 entrega o dado, não o disparo.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029200" y="5376672"/>
            <a:ext cx="1627632" cy="768096"/>
          </a:xfrm>
          <a:prstGeom prst="roundRect">
            <a:avLst>
              <a:gd name="adj" fmla="val 9524"/>
            </a:avLst>
          </a:prstGeom>
          <a:solidFill>
            <a:srgbClr val="EDF0F4"/>
          </a:solidFill>
          <a:ln w="12700">
            <a:solidFill>
              <a:srgbClr val="6B7785"/>
            </a:solidFill>
            <a:prstDash val="dash"/>
          </a:ln>
        </p:spPr>
      </p:sp>
      <p:sp>
        <p:nvSpPr>
          <p:cNvPr id="77" name="Text 75"/>
          <p:cNvSpPr/>
          <p:nvPr/>
        </p:nvSpPr>
        <p:spPr>
          <a:xfrm>
            <a:off x="5065776" y="5376672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Cloud Next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[orquestração e jornada]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665976" y="5760720"/>
            <a:ext cx="118872" cy="0"/>
          </a:xfrm>
          <a:prstGeom prst="line">
            <a:avLst/>
          </a:prstGeom>
          <a:noFill/>
          <a:ln w="19050">
            <a:solidFill>
              <a:srgbClr val="6B7785"/>
            </a:solidFill>
            <a:prstDash val="dash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6793992" y="5376672"/>
            <a:ext cx="1536192" cy="768096"/>
          </a:xfrm>
          <a:prstGeom prst="roundRect">
            <a:avLst>
              <a:gd name="adj" fmla="val 9524"/>
            </a:avLst>
          </a:prstGeom>
          <a:solidFill>
            <a:srgbClr val="EDF0F4"/>
          </a:solidFill>
          <a:ln w="12700">
            <a:solidFill>
              <a:srgbClr val="6B7785"/>
            </a:solidFill>
            <a:prstDash val="dash"/>
          </a:ln>
        </p:spPr>
      </p:sp>
      <p:sp>
        <p:nvSpPr>
          <p:cNvPr id="80" name="Text 78"/>
          <p:cNvSpPr/>
          <p:nvPr/>
        </p:nvSpPr>
        <p:spPr>
          <a:xfrm>
            <a:off x="6830568" y="5376672"/>
            <a:ext cx="1463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Sensedia API Gateway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[mTLS · OAuth2 · mascaramento]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8339328" y="5760720"/>
            <a:ext cx="118872" cy="0"/>
          </a:xfrm>
          <a:prstGeom prst="line">
            <a:avLst/>
          </a:prstGeom>
          <a:noFill/>
          <a:ln w="19050">
            <a:solidFill>
              <a:srgbClr val="6B7785"/>
            </a:solidFill>
            <a:prstDash val="dash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8467344" y="5376672"/>
            <a:ext cx="1417320" cy="768096"/>
          </a:xfrm>
          <a:prstGeom prst="roundRect">
            <a:avLst>
              <a:gd name="adj" fmla="val 9524"/>
            </a:avLst>
          </a:prstGeom>
          <a:solidFill>
            <a:srgbClr val="EDF0F4"/>
          </a:solidFill>
          <a:ln w="12700">
            <a:solidFill>
              <a:srgbClr val="6B7785"/>
            </a:solidFill>
            <a:prstDash val="dash"/>
          </a:ln>
        </p:spPr>
      </p:sp>
      <p:sp>
        <p:nvSpPr>
          <p:cNvPr id="83" name="Text 81"/>
          <p:cNvSpPr/>
          <p:nvPr/>
        </p:nvSpPr>
        <p:spPr>
          <a:xfrm>
            <a:off x="8503920" y="5376672"/>
            <a:ext cx="13441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Zenvia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[broker omnichannel]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9893808" y="5760720"/>
            <a:ext cx="118872" cy="0"/>
          </a:xfrm>
          <a:prstGeom prst="line">
            <a:avLst/>
          </a:prstGeom>
          <a:noFill/>
          <a:ln w="19050">
            <a:solidFill>
              <a:srgbClr val="6B7785"/>
            </a:solidFill>
            <a:prstDash val="dash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10021824" y="5376672"/>
            <a:ext cx="1618488" cy="768096"/>
          </a:xfrm>
          <a:prstGeom prst="roundRect">
            <a:avLst>
              <a:gd name="adj" fmla="val 9524"/>
            </a:avLst>
          </a:prstGeom>
          <a:solidFill>
            <a:srgbClr val="EDF0F4"/>
          </a:solidFill>
          <a:ln w="12700">
            <a:solidFill>
              <a:srgbClr val="6B7785"/>
            </a:solidFill>
            <a:prstDash val="dash"/>
          </a:ln>
        </p:spPr>
      </p:sp>
      <p:sp>
        <p:nvSpPr>
          <p:cNvPr id="86" name="Text 84"/>
          <p:cNvSpPr/>
          <p:nvPr/>
        </p:nvSpPr>
        <p:spPr>
          <a:xfrm>
            <a:off x="10058400" y="5376672"/>
            <a:ext cx="15453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Canais → Cliente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· E-mail · SMS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2350008" y="1865376"/>
            <a:ext cx="265176" cy="0"/>
          </a:xfrm>
          <a:prstGeom prst="line">
            <a:avLst/>
          </a:prstGeom>
          <a:noFill/>
          <a:ln w="22225">
            <a:solidFill>
              <a:srgbClr val="5C6B7A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Copy — onde aplicamos, onde não, e onde ainda há custo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estruturante da Fase 1 e seus limites conhecidos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5577840" cy="2487168"/>
          </a:xfrm>
          <a:prstGeom prst="roundRect">
            <a:avLst>
              <a:gd name="adj" fmla="val 1471"/>
            </a:avLst>
          </a:prstGeom>
          <a:solidFill>
            <a:srgbClr val="E9F5EF"/>
          </a:solidFill>
          <a:ln w="12700">
            <a:solidFill>
              <a:srgbClr val="B9DD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310896" cy="310896"/>
          </a:xfrm>
          <a:prstGeom prst="ellipse">
            <a:avLst/>
          </a:prstGeom>
          <a:solidFill>
            <a:srgbClr val="1F8A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0704" y="141732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6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Aplicamos Zero Copy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184708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 das comunicações transacionais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20665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Gold já modeladas pelos motores no Databricks. É o grosso do volume.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245973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 de cliente, produto e contrato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26791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referência lidos sob demanda, sem necessidade de cópia.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8368" y="307238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disparo, entrega e engajamento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3291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grande e de baixa frequência de leitura — o pior caso para pagar armazenamento.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99632" y="1234440"/>
            <a:ext cx="5577840" cy="2487168"/>
          </a:xfrm>
          <a:prstGeom prst="roundRect">
            <a:avLst>
              <a:gd name="adj" fmla="val 1471"/>
            </a:avLst>
          </a:prstGeom>
          <a:solidFill>
            <a:srgbClr val="FDF3E3"/>
          </a:solidFill>
          <a:ln w="12700">
            <a:solidFill>
              <a:srgbClr val="E8CF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28232" y="1417320"/>
            <a:ext cx="310896" cy="310896"/>
          </a:xfrm>
          <a:prstGeom prst="ellipse">
            <a:avLst/>
          </a:prstGeom>
          <a:solidFill>
            <a:srgbClr val="D99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48856" y="141732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5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aplicamos Zero Copy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184708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A5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 que exige reação em segundos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46520" y="20665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federada herda a latência do warehouse. Se surgir esse caso de uso, vai por Ingestion API — não por Zero Copy.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46520" y="245973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A5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que precisa disparar Data Action na escrita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46520" y="26791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Copy não gera evento de mudança. Mudança no Databricks não acorda o Salesforce; a leitura é agendada.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46520" y="307238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A5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que depende de disponibilidade do Databricks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46520" y="3291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warehouse cai, o objeto federado fica indisponível. Candidatos críticos entram como cópia.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3913632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AINDA HÁ CONSUMO — Zero Copy elimina armazenamento, não computação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4251960"/>
            <a:ext cx="2697480" cy="1481328"/>
          </a:xfrm>
          <a:prstGeom prst="roundRect">
            <a:avLst>
              <a:gd name="adj" fmla="val 2469"/>
            </a:avLst>
          </a:prstGeom>
          <a:solidFill>
            <a:srgbClr val="F4F7FB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" y="43708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6072" y="4572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federada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6072" y="497433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leitura do Data Cloud sobre o objeto externo consome crédito de processamento na ordem de dezenas de créditos por milhão de linhas lidas.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00984" y="4251960"/>
            <a:ext cx="2697480" cy="1481328"/>
          </a:xfrm>
          <a:prstGeom prst="roundRect">
            <a:avLst>
              <a:gd name="adj" fmla="val 2469"/>
            </a:avLst>
          </a:prstGeom>
          <a:solidFill>
            <a:srgbClr val="F4F7FB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65576" y="43708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34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465576" y="4572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do warehouse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65576" y="497433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query é faturada de novo, do lado do Databricks. É o custo que a economia de armazenamento não cobre.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90488" y="4251960"/>
            <a:ext cx="2697480" cy="1481328"/>
          </a:xfrm>
          <a:prstGeom prst="roundRect">
            <a:avLst>
              <a:gd name="adj" fmla="val 2469"/>
            </a:avLst>
          </a:prstGeom>
          <a:solidFill>
            <a:srgbClr val="F4F7FB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43708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55080" y="4572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Resolution e Calculated Insights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55080" y="497433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 sobre o dado federado e consomem crédito por linha processada, independentemente de o dado estar copiado ou não.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079992" y="4251960"/>
            <a:ext cx="2697480" cy="1481328"/>
          </a:xfrm>
          <a:prstGeom prst="roundRect">
            <a:avLst>
              <a:gd name="adj" fmla="val 2469"/>
            </a:avLst>
          </a:prstGeom>
          <a:solidFill>
            <a:srgbClr val="F4F7FB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44584" y="43708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244584" y="4572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e ativação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244584" y="497433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execução de segmento e cada ativação são faturadas. É aqui que a Fase 2 muda a curva de custo.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11480" y="5888736"/>
            <a:ext cx="11365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Estratégia: Zero Copy por padrão, cópia por exceção justificada. Cada exceção é registrada com o motivo técnico que a tornou necessária.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754880"/>
            <a:ext cx="4206240" cy="4206240"/>
          </a:xfrm>
          <a:prstGeom prst="ellipse">
            <a:avLst/>
          </a:prstGeom>
          <a:solidFill>
            <a:srgbClr val="0176D3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Conformidade e caminho até o go-live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sustenta a arquitetura diante do regulador e o que precisa de decisão nesta cerimônia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2984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9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REGULATÓRIA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664208"/>
            <a:ext cx="274320" cy="274320"/>
          </a:xfrm>
          <a:prstGeom prst="ellipse">
            <a:avLst/>
          </a:prstGeom>
          <a:solidFill>
            <a:srgbClr val="D99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645920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 CMN 4.893/2021 — segurança cibernética e nuvem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1975104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FA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os controles exigíveis: criptografia, MFA, detecção de intrusão, segmentação e retenção de log. É a norma que a arquitetura precisa endereçar item a item.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724912"/>
            <a:ext cx="274320" cy="274320"/>
          </a:xfrm>
          <a:prstGeom prst="ellipse">
            <a:avLst/>
          </a:prstGeom>
          <a:solidFill>
            <a:srgbClr val="D99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724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706624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responsabilidade não se terceiriza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3035808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FA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em SaaS multi-tenant, a titularidade regulatória do dado permanece do Porto Bank. O Salesforce é operador; o banco responde perante o BACEN.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785616"/>
            <a:ext cx="274320" cy="274320"/>
          </a:xfrm>
          <a:prstGeom prst="ellipse">
            <a:avLst/>
          </a:prstGeom>
          <a:solidFill>
            <a:srgbClr val="D99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767328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Notificação prévia de contratação de nuvem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4096512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FA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contratação de processamento relevante em nuvem exige comunicação ao BACEN antes do início — precisa entrar no cronograma, não depois dele.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4846320"/>
            <a:ext cx="274320" cy="274320"/>
          </a:xfrm>
          <a:prstGeom prst="ellipse">
            <a:avLst/>
          </a:prstGeom>
          <a:solidFill>
            <a:srgbClr val="D99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4828032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a solicitar do fornecedor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5157216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FA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27001, SOC 2 Type II, aderência à LGPD e direito contratual de auditoria. Sem isso a arquitetura não se defende.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09360" y="1243584"/>
            <a:ext cx="5468112" cy="2487168"/>
          </a:xfrm>
          <a:prstGeom prst="roundRect">
            <a:avLst>
              <a:gd name="adj" fmla="val 1471"/>
            </a:avLst>
          </a:prstGeom>
          <a:solidFill>
            <a:srgbClr val="12304F"/>
          </a:solidFill>
          <a:ln w="12700">
            <a:solidFill>
              <a:srgbClr val="2348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1389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QUE PRECISAM DE AVAL HOJE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37960" y="1847088"/>
            <a:ext cx="82296" cy="82296"/>
          </a:xfrm>
          <a:prstGeom prst="rect">
            <a:avLst/>
          </a:prstGeom>
          <a:solidFill>
            <a:srgbClr val="D99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84848" y="175564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D6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Copy como padrão de ingestão, com cópia apenas por exceção justificada e registrada.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37960" y="2468880"/>
            <a:ext cx="82296" cy="82296"/>
          </a:xfrm>
          <a:prstGeom prst="rect">
            <a:avLst/>
          </a:prstGeom>
          <a:solidFill>
            <a:srgbClr val="D99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84848" y="2377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D6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permanece como fonte única de verdade e único ponto de persistência do dado financeiro sensível.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37960" y="3090672"/>
            <a:ext cx="82296" cy="82296"/>
          </a:xfrm>
          <a:prstGeom prst="rect">
            <a:avLst/>
          </a:prstGeom>
          <a:solidFill>
            <a:srgbClr val="D99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84848" y="29992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D6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escopo da Fase 1 termina em Activation Targets — o desligamento da GCP fica condicionado à Fase 2.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09360" y="3931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9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ATÉ O GO-LIVE DA FASE 1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09360" y="4334256"/>
            <a:ext cx="292608" cy="292608"/>
          </a:xfrm>
          <a:prstGeom prst="ellipse">
            <a:avLst/>
          </a:prstGeom>
          <a:solidFill>
            <a:srgbClr val="017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4334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48272" y="42976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01000" y="4297680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8FA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do fornecedor, mapa de dados, notificação ao regulador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09360" y="4882896"/>
            <a:ext cx="292608" cy="292608"/>
          </a:xfrm>
          <a:prstGeom prst="ellipse">
            <a:avLst/>
          </a:prstGeom>
          <a:solidFill>
            <a:srgbClr val="017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48272" y="48463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Habilitação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01000" y="4846320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8FA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federada, Private Link, MFA, trilha de auditoria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09360" y="5431536"/>
            <a:ext cx="292608" cy="292608"/>
          </a:xfrm>
          <a:prstGeom prst="ellipse">
            <a:avLst/>
          </a:prstGeom>
          <a:solidFill>
            <a:srgbClr val="017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5431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48272" y="53949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01000" y="5394960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8FA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produto ponta a ponta, com teste de carga e medição de latência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09360" y="5980176"/>
            <a:ext cx="292608" cy="292608"/>
          </a:xfrm>
          <a:prstGeom prst="ellipse">
            <a:avLst/>
          </a:prstGeom>
          <a:solidFill>
            <a:srgbClr val="017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5980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748272" y="59436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001000" y="5943600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8FA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Demais produtos; GCP segue ativa até a Fase 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Comunicacoes Transacionais - Arquitetura Data Cloud</dc:title>
  <dc:subject>PptxGenJS Presentation</dc:subject>
  <dc:creator>Porto Bank - Arquitetura de Solucoes</dc:creator>
  <cp:lastModifiedBy>Porto Bank - Arquitetura de Solucoes</cp:lastModifiedBy>
  <cp:revision>1</cp:revision>
  <dcterms:created xsi:type="dcterms:W3CDTF">2026-08-19T13:50:44Z</dcterms:created>
  <dcterms:modified xsi:type="dcterms:W3CDTF">2026-08-19T13:50:44Z</dcterms:modified>
</cp:coreProperties>
</file>